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0" y="2011680"/>
            <a:ext cx="2103120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BIBLE COMMERCIALE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296F0"/>
                </a:solidFill>
                <a:latin typeface="Calibri"/>
              </a:defRPr>
            </a:pPr>
            <a:r>
              <a:t>Session 1 — Les Fondations de la Conviction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08096"/>
                </a:solidFill>
                <a:latin typeface="Calibri"/>
              </a:defRPr>
            </a:pPr>
            <a:r>
              <a:t>Incubateur UPVD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2286000" cy="365760"/>
          </a:xfrm>
          <a:prstGeom prst="roundRect">
            <a:avLst>
              <a:gd name="adj" fmla="val 30000"/>
            </a:avLst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PROMESSE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Ce matin, on ne produit pas un pitch générique.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A296F0"/>
                </a:solidFill>
                <a:latin typeface="Calibri"/>
              </a:defRPr>
            </a:pPr>
            <a:r>
              <a:t>On construit la première version de votre Bible Commerciale.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0C0"/>
                </a:solidFill>
                <a:latin typeface="Calibri"/>
              </a:defRPr>
            </a:pPr>
            <a:r>
              <a:t>À la fin de la session, vous aurez clarifié :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3822191"/>
            <a:ext cx="137160" cy="13716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37490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Qui vous devez convaincre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4325111"/>
            <a:ext cx="137160" cy="13716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425195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Pourquoi ces personnes disent oui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4828031"/>
            <a:ext cx="137160" cy="13716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475487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Quels sont leurs vrais enjeux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5330951"/>
            <a:ext cx="137160" cy="13716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525779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Comment relier votre startup à ces enjeux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2286000" cy="365760"/>
          </a:xfrm>
          <a:prstGeom prst="roundRect">
            <a:avLst>
              <a:gd name="adj" fmla="val 30000"/>
            </a:avLst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9h00 — 9h15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Accueil, connexion, mise en route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5029200" cy="201168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5CE7"/>
                </a:solidFill>
                <a:latin typeface="Calibri"/>
              </a:defRPr>
            </a:pPr>
            <a:r>
              <a:t>INSCRIPTION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B0B0C0"/>
                </a:solidFill>
                <a:latin typeface="Calibri"/>
              </a:rPr>
              <a:t>  Nom de la startup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B0B0C0"/>
                </a:solidFill>
                <a:latin typeface="Calibri"/>
              </a:rPr>
              <a:t>  Nom du fondateur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B0B0C0"/>
                </a:solidFill>
                <a:latin typeface="Calibri"/>
              </a:rPr>
              <a:t>  Mot de passe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B0B0C0"/>
                </a:solidFill>
                <a:latin typeface="Calibri"/>
              </a:rPr>
              <a:t>  Secteur &amp; stade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286000"/>
            <a:ext cx="5029200" cy="201168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5CE7"/>
                </a:solidFill>
                <a:latin typeface="Calibri"/>
              </a:defRPr>
            </a:pPr>
            <a:r>
              <a:t>TOUR DE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9260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B0B0C0"/>
                </a:solidFill>
                <a:latin typeface="Calibri"/>
              </a:rPr>
              <a:t>  Votre nom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B0B0C0"/>
                </a:solidFill>
                <a:latin typeface="Calibri"/>
              </a:rPr>
              <a:t>  Votre startup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B0B0C0"/>
                </a:solidFill>
                <a:latin typeface="Calibri"/>
              </a:rPr>
              <a:t>  Ce que vous devez obtenir dans les 90 jours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846320"/>
            <a:ext cx="54864" cy="9144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846320"/>
            <a:ext cx="10287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1">
                <a:solidFill>
                  <a:srgbClr val="A296F0"/>
                </a:solidFill>
                <a:latin typeface="Calibri"/>
              </a:defRPr>
            </a:pPr>
            <a:r>
              <a:t>« Tout ce qu'on construit sera saisi dans l'application pour produire votre Bible Commerciale v1. 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2286000" cy="365760"/>
          </a:xfrm>
          <a:prstGeom prst="roundRect">
            <a:avLst>
              <a:gd name="adj" fmla="val 30000"/>
            </a:avLst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9h15 — 9h35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Convaincre, c'est déjà votre métier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2011680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C5CE7"/>
                </a:solidFill>
                <a:latin typeface="Calibri"/>
              </a:defRPr>
            </a:pPr>
            <a:r>
              <a:t>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C0"/>
                </a:solidFill>
                <a:latin typeface="Calibri"/>
              </a:defRPr>
            </a:pPr>
            <a:r>
              <a:t>→ Accompagnateurs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228600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71800" y="2286000"/>
            <a:ext cx="2011680" cy="54864"/>
          </a:xfrm>
          <a:prstGeom prst="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2560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A0"/>
                </a:solidFill>
                <a:latin typeface="Calibri"/>
              </a:defRPr>
            </a:pPr>
            <a:r>
              <a:t>Projet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31089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C0"/>
                </a:solidFill>
                <a:latin typeface="Calibri"/>
              </a:defRPr>
            </a:pPr>
            <a:r>
              <a:t>→ Talents / Équipe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228600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12080" y="2286000"/>
            <a:ext cx="2011680" cy="54864"/>
          </a:xfrm>
          <a:prstGeom prst="rect">
            <a:avLst/>
          </a:prstGeom>
          <a:solidFill>
            <a:srgbClr val="FD9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2560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D9F44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1089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C0"/>
                </a:solidFill>
                <a:latin typeface="Calibri"/>
              </a:defRPr>
            </a:pPr>
            <a:r>
              <a:t>→ Clients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228600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52360" y="2286000"/>
            <a:ext cx="2011680" cy="54864"/>
          </a:xfrm>
          <a:prstGeom prst="rect">
            <a:avLst/>
          </a:prstGeom>
          <a:solidFill>
            <a:srgbClr val="FEC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2560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ECA57"/>
                </a:solidFill>
                <a:latin typeface="Calibri"/>
              </a:defRPr>
            </a:pPr>
            <a:r>
              <a:t>Potentiel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31089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C0"/>
                </a:solidFill>
                <a:latin typeface="Calibri"/>
              </a:defRPr>
            </a:pPr>
            <a:r>
              <a:t>→ Financeurs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228600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92640" y="2286000"/>
            <a:ext cx="201168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0" y="2560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6B6B"/>
                </a:solidFill>
                <a:latin typeface="Calibri"/>
              </a:defRPr>
            </a:pPr>
            <a:r>
              <a:t>Crédibilité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31089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C0"/>
                </a:solidFill>
                <a:latin typeface="Calibri"/>
              </a:defRPr>
            </a:pPr>
            <a:r>
              <a:t>→ Partenaires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754880"/>
            <a:ext cx="54864" cy="109728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754880"/>
            <a:ext cx="10287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1">
                <a:solidFill>
                  <a:srgbClr val="A296F0"/>
                </a:solidFill>
                <a:latin typeface="Calibri"/>
              </a:defRPr>
            </a:pPr>
            <a:r>
              <a:t>« Le sujet n'est pas comment vendre mon offre. Le sujet est : comment faire avancer des décisions favorables dans mon écosystème ? 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0" y="5943600"/>
            <a:ext cx="6675120" cy="548640"/>
          </a:xfrm>
          <a:prstGeom prst="roundRect">
            <a:avLst>
              <a:gd name="adj" fmla="val 5000"/>
            </a:avLst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0" y="594360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Vous vendez déjà. La question : le faites-vous consciemment et méthodiquement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2286000" cy="365760"/>
          </a:xfrm>
          <a:prstGeom prst="roundRect">
            <a:avLst>
              <a:gd name="adj" fmla="val 30000"/>
            </a:avLst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Cartographie des parties prenantes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3383280" cy="137160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468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296F0"/>
                </a:solidFill>
                <a:latin typeface="Calibri"/>
              </a:defRPr>
            </a:pPr>
            <a:r>
              <a:t>Accompagnateurs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96"/>
                </a:solidFill>
                <a:latin typeface="Calibri"/>
              </a:defRPr>
            </a:pPr>
            <a:r>
              <a:t>Incubateur, mentor, référent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286000"/>
            <a:ext cx="3383280" cy="137160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468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296F0"/>
                </a:solidFill>
                <a:latin typeface="Calibri"/>
              </a:defRPr>
            </a:pPr>
            <a:r>
              <a:t>Équipe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9260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96"/>
                </a:solidFill>
                <a:latin typeface="Calibri"/>
              </a:defRPr>
            </a:pPr>
            <a:r>
              <a:t>Associé, 1er salarié, freelance clé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286000"/>
            <a:ext cx="3383280" cy="137160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468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296F0"/>
                </a:solidFill>
                <a:latin typeface="Calibri"/>
              </a:defRPr>
            </a:pPr>
            <a:r>
              <a:t>Clients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9260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96"/>
                </a:solidFill>
                <a:latin typeface="Calibri"/>
              </a:defRPr>
            </a:pPr>
            <a:r>
              <a:t>Bêta-testeur, 1er client payant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3383280" cy="137160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233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296F0"/>
                </a:solidFill>
                <a:latin typeface="Calibri"/>
              </a:defRPr>
            </a:pPr>
            <a:r>
              <a:t>Financeurs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96"/>
                </a:solidFill>
                <a:latin typeface="Calibri"/>
              </a:defRPr>
            </a:pPr>
            <a:r>
              <a:t>BA, BPI, banque, subvention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840480"/>
            <a:ext cx="3383280" cy="137160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40233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296F0"/>
                </a:solidFill>
                <a:latin typeface="Calibri"/>
              </a:defRPr>
            </a:pPr>
            <a:r>
              <a:t>Partenaires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4805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96"/>
                </a:solidFill>
                <a:latin typeface="Calibri"/>
              </a:defRPr>
            </a:pPr>
            <a:r>
              <a:t>Distributeur, apporteur d'affaires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840480"/>
            <a:ext cx="3383280" cy="137160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40233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296F0"/>
                </a:solidFill>
                <a:latin typeface="Calibri"/>
              </a:defRPr>
            </a:pPr>
            <a:r>
              <a:t>Écosystème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4805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96"/>
                </a:solidFill>
                <a:latin typeface="Calibri"/>
              </a:defRPr>
            </a:pPr>
            <a:r>
              <a:t>Média local, réseau, asso, event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577840"/>
            <a:ext cx="10515600" cy="822960"/>
          </a:xfrm>
          <a:prstGeom prst="roundRect">
            <a:avLst>
              <a:gd name="adj" fmla="val 5000"/>
            </a:avLst>
          </a:prstGeom>
          <a:solidFill>
            <a:srgbClr val="15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D9F44"/>
                </a:solidFill>
                <a:latin typeface="Calibri"/>
              </a:defRPr>
            </a:pPr>
            <a:r>
              <a:t>Chaque entrée : Nom + Rôle + Priorité (critique / important / secondaire)  —  Minimum 3 catégories remplies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« Votre première erreur, c'est de croire que votre marché suffit. »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2926080"/>
            <a:ext cx="2103120" cy="36576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296F0"/>
                </a:solidFill>
                <a:latin typeface="Calibri"/>
              </a:defRPr>
            </a:pPr>
            <a:r>
              <a:t>Ce qui compte, c'est votre système concret</a:t>
            </a:r>
            <a:br/>
            <a:r>
              <a:t>de parties prenantes.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0C0"/>
                </a:solidFill>
                <a:latin typeface="Calibri"/>
              </a:defRPr>
            </a:pPr>
            <a:r>
              <a:t>Ne restez pas enfermés dans « mes clients ».</a:t>
            </a:r>
            <a:br/>
            <a:r>
              <a:t>Voyez l'ensemble des personnes qui peuvent accélérer ou freiner votre startup.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2286000" cy="365760"/>
          </a:xfrm>
          <a:prstGeom prst="roundRect">
            <a:avLst>
              <a:gd name="adj" fmla="val 30000"/>
            </a:avLst>
          </a:prstGeom>
          <a:solidFill>
            <a:srgbClr val="FD9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Où mettez-vous votre énergie 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4688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6B6B"/>
                </a:solidFill>
                <a:latin typeface="Calibri"/>
              </a:defRPr>
            </a:pPr>
            <a:r>
              <a:t>CRITIQUE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t>Énergie maximale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832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08096"/>
                </a:solidFill>
                <a:latin typeface="Calibri"/>
              </a:defRPr>
            </a:pPr>
            <a:r>
              <a:t>Les parties prenantes</a:t>
            </a:r>
            <a:br/>
            <a:r>
              <a:t>sans lesquelles rien</a:t>
            </a:r>
            <a:br/>
            <a:r>
              <a:t>n'avance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2286000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25400">
            <a:solidFill>
              <a:srgbClr val="FD9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24688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D9F44"/>
                </a:solidFill>
                <a:latin typeface="Calibri"/>
              </a:defRPr>
            </a:pPr>
            <a:r>
              <a:t>IMPORTANT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2926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t>Énergie ciblée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3832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08096"/>
                </a:solidFill>
                <a:latin typeface="Calibri"/>
              </a:defRPr>
            </a:pPr>
            <a:r>
              <a:t>Celles qui accélèrent</a:t>
            </a:r>
            <a:br/>
            <a:r>
              <a:t>significativement</a:t>
            </a:r>
            <a:br/>
            <a:r>
              <a:t>votre trajectoire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598" y="2286000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25400">
            <a:solidFill>
              <a:srgbClr val="80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18" y="24688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08096"/>
                </a:solidFill>
                <a:latin typeface="Calibri"/>
              </a:defRPr>
            </a:pPr>
            <a:r>
              <a:t>SECONDAIRE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8" y="2926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t>Énergie mesurée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8" y="33832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08096"/>
                </a:solidFill>
                <a:latin typeface="Calibri"/>
              </a:defRPr>
            </a:pPr>
            <a:r>
              <a:t>Utiles mais pas</a:t>
            </a:r>
            <a:br/>
            <a:r>
              <a:t>décisives à court</a:t>
            </a:r>
            <a:br/>
            <a:r>
              <a:t>terme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120640"/>
            <a:ext cx="54864" cy="9144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120640"/>
            <a:ext cx="10287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 i="1">
                <a:solidFill>
                  <a:srgbClr val="A296F0"/>
                </a:solidFill>
                <a:latin typeface="Calibri"/>
              </a:defRPr>
            </a:pPr>
            <a:r>
              <a:t>« Qui avez-vous mis en critique, et pourquoi ? 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2286000" cy="365760"/>
          </a:xfrm>
          <a:prstGeom prst="roundRect">
            <a:avLst>
              <a:gd name="adj" fmla="val 30000"/>
            </a:avLst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Pourquoi les gens disent oui — Kahneman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5029200" cy="256032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25400">
            <a:solidFill>
              <a:srgbClr val="FD9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D9F44"/>
                </a:solidFill>
                <a:latin typeface="Calibri"/>
              </a:defRPr>
            </a:pPr>
            <a:r>
              <a:t>SYSTÈME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0C0"/>
                </a:solidFill>
                <a:latin typeface="Calibri"/>
              </a:defRPr>
            </a:pPr>
            <a:r>
              <a:t>Rapide • Intuitif • Émotionnel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56616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FD9F44"/>
                </a:solidFill>
                <a:latin typeface="Calibri"/>
              </a:rPr>
              <a:t>  Confiance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FD9F44"/>
                </a:solidFill>
                <a:latin typeface="Calibri"/>
              </a:rPr>
              <a:t>  Envie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FD9F44"/>
                </a:solidFill>
                <a:latin typeface="Calibri"/>
              </a:rPr>
              <a:t>  Alignement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286000"/>
            <a:ext cx="5029200" cy="256032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25400">
            <a:solidFill>
              <a:srgbClr val="00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D2A0"/>
                </a:solidFill>
                <a:latin typeface="Calibri"/>
              </a:defRPr>
            </a:pPr>
            <a:r>
              <a:t>SYSTÈME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0C0"/>
                </a:solidFill>
                <a:latin typeface="Calibri"/>
              </a:defRPr>
            </a:pPr>
            <a:r>
              <a:t>Lent • Analytique • Logique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356616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0D2A0"/>
                </a:solidFill>
                <a:latin typeface="Calibri"/>
              </a:rPr>
              <a:t>  Preuve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0D2A0"/>
                </a:solidFill>
                <a:latin typeface="Calibri"/>
              </a:rPr>
              <a:t>  Cohérence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00D2A0"/>
                </a:solidFill>
                <a:latin typeface="Calibri"/>
              </a:rPr>
              <a:t>  Logique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303520"/>
            <a:ext cx="54864" cy="9144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303520"/>
            <a:ext cx="10287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1">
                <a:solidFill>
                  <a:srgbClr val="A296F0"/>
                </a:solidFill>
                <a:latin typeface="Calibri"/>
              </a:defRPr>
            </a:pPr>
            <a:r>
              <a:t>« Les gens ressentent d'abord, puis rationalisent ensuite. Votre stratégie doit adresser les deux. 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2286000" cy="365760"/>
          </a:xfrm>
          <a:prstGeom prst="roundRect">
            <a:avLst>
              <a:gd name="adj" fmla="val 30000"/>
            </a:avLst>
          </a:prstGeom>
          <a:solidFill>
            <a:srgbClr val="FEC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Mini-quiz : Système 1 ou Système 2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0B0C0"/>
                </a:solidFill>
                <a:latin typeface="Calibri"/>
              </a:defRPr>
            </a:pPr>
            <a:r>
              <a:t>Le quiz n'est pas un contrôle scolaire.</a:t>
            </a:r>
            <a:br/>
            <a:br/>
            <a:r>
              <a:t>Il sert à prendre conscience des mécanismes mentaux</a:t>
            </a:r>
            <a:br/>
            <a:r>
              <a:t>que vous activez — ou oubliez d'activer —</a:t>
            </a:r>
            <a:br/>
            <a:r>
              <a:t>quand vous présentez votre startup.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4572000"/>
            <a:ext cx="7589520" cy="164592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0" y="466344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5CE7"/>
                </a:solidFill>
                <a:latin typeface="Calibri"/>
              </a:defRPr>
            </a:pPr>
            <a:r>
              <a:t>BILAN INTERMÉDIAIRE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5029200"/>
            <a:ext cx="7040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✓ </a:t>
            </a:r>
            <a:r>
              <a:rPr sz="1600" b="0">
                <a:solidFill>
                  <a:srgbClr val="B0B0C0"/>
                </a:solidFill>
                <a:latin typeface="Calibri"/>
              </a:rPr>
              <a:t>Vous avez identifié QUI convaincre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✓ </a:t>
            </a:r>
            <a:r>
              <a:rPr sz="1600" b="0">
                <a:solidFill>
                  <a:srgbClr val="B0B0C0"/>
                </a:solidFill>
                <a:latin typeface="Calibri"/>
              </a:rPr>
              <a:t>Vous comprenez COMMENT ces personnes décident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→ </a:t>
            </a:r>
            <a:r>
              <a:rPr sz="1600" b="0">
                <a:solidFill>
                  <a:srgbClr val="B0B0C0"/>
                </a:solidFill>
                <a:latin typeface="Calibri"/>
              </a:rPr>
              <a:t>Prochaine étape : leurs VRAIS ENJEUX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6C5CE7"/>
                </a:solidFill>
                <a:latin typeface="Calibri"/>
              </a:defRPr>
            </a:pPr>
            <a:r>
              <a:t>PAUSE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08096"/>
                </a:solidFill>
                <a:latin typeface="Calibri"/>
              </a:defRPr>
            </a:pPr>
            <a:r>
              <a:t>11h00 — 11h15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2286000" cy="365760"/>
          </a:xfrm>
          <a:prstGeom prst="roundRect">
            <a:avLst>
              <a:gd name="adj" fmla="val 30000"/>
            </a:avLst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MODULE 2 (suite)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Les 8 biais cognitifs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2560320" cy="164592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190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5CE7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14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Ancrage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718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6"/>
                </a:solidFill>
                <a:latin typeface="Calibri"/>
              </a:defRPr>
            </a:pPr>
            <a:r>
              <a:t>La 1ère info conditionne le jugement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103120"/>
            <a:ext cx="2560320" cy="164592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19050">
            <a:solidFill>
              <a:srgbClr val="00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A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514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Confirmation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9718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6"/>
                </a:solidFill>
                <a:latin typeface="Calibri"/>
              </a:defRPr>
            </a:pPr>
            <a:r>
              <a:t>On cherche ce qui confirme nos croyances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2103120"/>
            <a:ext cx="2560320" cy="164592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19050">
            <a:solidFill>
              <a:srgbClr val="FD9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D9F44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514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Preuve sociale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9718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6"/>
                </a:solidFill>
                <a:latin typeface="Calibri"/>
              </a:defRPr>
            </a:pPr>
            <a:r>
              <a:t>On suit ce que font les autres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2103120"/>
            <a:ext cx="2560320" cy="164592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514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Aversion à la perte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9718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6"/>
                </a:solidFill>
                <a:latin typeface="Calibri"/>
              </a:defRPr>
            </a:pPr>
            <a:r>
              <a:t>Perdre fait plus mal que gagner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31920"/>
            <a:ext cx="2560320" cy="164592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19050">
            <a:solidFill>
              <a:srgbClr val="80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023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08096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3434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Statu quo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8006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6"/>
                </a:solidFill>
                <a:latin typeface="Calibri"/>
              </a:defRPr>
            </a:pPr>
            <a:r>
              <a:t>On préfère ne pas changer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0" y="3931920"/>
            <a:ext cx="2560320" cy="164592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19050">
            <a:solidFill>
              <a:srgbClr val="FEC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37560" y="4023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ECA57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43434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Halo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48006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6"/>
                </a:solidFill>
                <a:latin typeface="Calibri"/>
              </a:defRPr>
            </a:pPr>
            <a:r>
              <a:t>Une impression positive irradie sur tout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3931920"/>
            <a:ext cx="2560320" cy="164592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19050">
            <a:solidFill>
              <a:srgbClr val="A29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4023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296F0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43434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Rareté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48006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6"/>
                </a:solidFill>
                <a:latin typeface="Calibri"/>
              </a:defRPr>
            </a:pPr>
            <a:r>
              <a:t>Ce qui est rare est perçu comme précieux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0" y="3931920"/>
            <a:ext cx="2560320" cy="164592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19050">
            <a:solidFill>
              <a:srgbClr val="00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23960" y="4023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A0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43434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Réciprocité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48006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6"/>
                </a:solidFill>
                <a:latin typeface="Calibri"/>
              </a:defRPr>
            </a:pPr>
            <a:r>
              <a:t>On rend ce qu'on reçoit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2286000" cy="365760"/>
          </a:xfrm>
          <a:prstGeom prst="roundRect">
            <a:avLst>
              <a:gd name="adj" fmla="val 30000"/>
            </a:avLst>
          </a:prstGeom>
          <a:solidFill>
            <a:srgbClr val="FD9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EXERCICE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Appliquer les biais à vos parties prenantes critiques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0C0"/>
                </a:solidFill>
                <a:latin typeface="Calibri"/>
              </a:defRPr>
            </a:pPr>
            <a:r>
              <a:t>Pour vos 3 PP prioritaires → sélectionnez 3 biais max → écrivez comment les activer concrètement.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5CE7"/>
                </a:solidFill>
                <a:latin typeface="Calibri"/>
              </a:defRPr>
            </a:pPr>
            <a:r>
              <a:t>QUESTIONS DE RELANCE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7472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B0B0C0"/>
                </a:solidFill>
                <a:latin typeface="Calibri"/>
              </a:rPr>
              <a:t>  Quelle preuve sociale pouvez-vous montrer ?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B0B0C0"/>
                </a:solidFill>
                <a:latin typeface="Calibri"/>
              </a:rPr>
              <a:t>  Quel coût de l'inaction pouvez-vous révéler ?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B0B0C0"/>
                </a:solidFill>
                <a:latin typeface="Calibri"/>
              </a:rPr>
              <a:t>  Quel effort de changement devez-vous réduire ?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B0B0C0"/>
                </a:solidFill>
                <a:latin typeface="Calibri"/>
              </a:rPr>
              <a:t>  Quel 1er signal de crédibilité devez-vous soigner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92608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190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5CE7"/>
                </a:solidFill>
                <a:latin typeface="Calibri"/>
              </a:defRPr>
            </a:pPr>
            <a:r>
              <a:t>CADRAGE ÉTHIQUE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5661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Calibri"/>
              </a:defRPr>
            </a:pPr>
            <a:r>
              <a:t>On ne manipule pas.</a:t>
            </a:r>
            <a:br/>
            <a:br/>
            <a:r>
              <a:t>On comprend les mécanismes de décision pour mieux construire une relation de conviction.</a:t>
            </a:r>
            <a:br/>
            <a:br/>
            <a:r>
              <a:t>Un financeur, un accompagnateur et un premier client ne disent pas oui pour les mêmes raisons.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08096"/>
                </a:solidFill>
                <a:latin typeface="Calibri"/>
              </a:defRPr>
            </a:pPr>
            <a:r>
              <a:t>Jusqu'ici, on a répondu à deux questions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2A0"/>
                </a:solidFill>
                <a:latin typeface="Calibri"/>
              </a:defRPr>
            </a:pPr>
            <a:r>
              <a:t>✓  Qui faut-il convaincre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2A0"/>
                </a:solidFill>
                <a:latin typeface="Calibri"/>
              </a:defRPr>
            </a:pPr>
            <a:r>
              <a:t>✓  Comment ces personnes disent-elles oui 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840480"/>
            <a:ext cx="2103120" cy="36576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08096"/>
                </a:solidFill>
                <a:latin typeface="Calibri"/>
              </a:defRPr>
            </a:pPr>
            <a:r>
              <a:t>Maintenant, la question décisive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Qu'est-ce qui compte vraiment pour elles 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2286000" cy="365760"/>
          </a:xfrm>
          <a:prstGeom prst="roundRect">
            <a:avLst>
              <a:gd name="adj" fmla="val 30000"/>
            </a:avLst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La Matrice des Enjeux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296F0"/>
                </a:solidFill>
                <a:latin typeface="Calibri"/>
              </a:defRPr>
            </a:pPr>
            <a:r>
              <a:t>C'est le cœur de la session.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25400">
            <a:solidFill>
              <a:srgbClr val="FD9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3474720" cy="54864"/>
          </a:xfrm>
          <a:prstGeom prst="rect">
            <a:avLst/>
          </a:prstGeom>
          <a:solidFill>
            <a:srgbClr val="FD9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9F44"/>
                </a:solidFill>
                <a:latin typeface="Calibri"/>
              </a:defRPr>
            </a:pPr>
            <a:r>
              <a:t>ENJEU APPARENT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B0C0"/>
                </a:solidFill>
                <a:latin typeface="Calibri"/>
              </a:defRPr>
            </a:pPr>
            <a:r>
              <a:t>Ce que la personne semble vouloir dans la relation avec la startup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56032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2560320"/>
            <a:ext cx="347472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2743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B6B"/>
                </a:solidFill>
                <a:latin typeface="Calibri"/>
              </a:defRPr>
            </a:pPr>
            <a:r>
              <a:t>ENJEU PROFOND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2918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B0C0"/>
                </a:solidFill>
                <a:latin typeface="Calibri"/>
              </a:defRPr>
            </a:pPr>
            <a:r>
              <a:t>Ce qui l'anime vraiment dans son propre contexte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598" y="256032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25400">
            <a:solidFill>
              <a:srgbClr val="00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598" y="2560320"/>
            <a:ext cx="3474720" cy="54864"/>
          </a:xfrm>
          <a:prstGeom prst="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18" y="2743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A0"/>
                </a:solidFill>
                <a:latin typeface="Calibri"/>
              </a:defRPr>
            </a:pPr>
            <a:r>
              <a:t>PONT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8" y="32918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B0C0"/>
                </a:solidFill>
                <a:latin typeface="Calibri"/>
              </a:defRPr>
            </a:pPr>
            <a:r>
              <a:t>Le lien logique ET émotionnel entre votre startup et cet enjeu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937760"/>
            <a:ext cx="10515600" cy="128016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29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5CE7"/>
                </a:solidFill>
                <a:latin typeface="Calibri"/>
              </a:defRPr>
            </a:pPr>
            <a:r>
              <a:t>QUESTIONS CLÉ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3949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B0B0C0"/>
                </a:solidFill>
                <a:latin typeface="Calibri"/>
              </a:rPr>
              <a:t>  À qui rend-elle des comptes ?       •   Qu'est-ce qui l'empêche de dormir ?       •   Quels sont ses KPIs 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2286000" cy="365760"/>
          </a:xfrm>
          <a:prstGeom prst="roundRect">
            <a:avLst>
              <a:gd name="adj" fmla="val 30000"/>
            </a:avLst>
          </a:prstGeom>
          <a:solidFill>
            <a:srgbClr val="FEC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EXEMPLE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L'accompagnateur d'incubateur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25400">
            <a:solidFill>
              <a:srgbClr val="FD9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3474720" cy="54864"/>
          </a:xfrm>
          <a:prstGeom prst="rect">
            <a:avLst/>
          </a:prstGeom>
          <a:solidFill>
            <a:srgbClr val="FD9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D9F44"/>
                </a:solidFill>
                <a:latin typeface="Calibri"/>
              </a:defRPr>
            </a:pPr>
            <a:r>
              <a:t>ENJEU APPARENT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Calibri"/>
              </a:defRPr>
            </a:pPr>
            <a:r>
              <a:t>Vous aider à réussir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228600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59" y="2286000"/>
            <a:ext cx="347472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Calibri"/>
              </a:defRPr>
            </a:pPr>
            <a:r>
              <a:t>ENJEU PROFOND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9260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Calibri"/>
              </a:defRPr>
            </a:pPr>
            <a:r>
              <a:t>Démontrer la réussite de sa cohorte</a:t>
            </a:r>
            <a:br/>
            <a:r>
              <a:t>Justifier les financements du programme</a:t>
            </a:r>
            <a:br/>
            <a:r>
              <a:t>Créer de l'emploi local</a:t>
            </a:r>
            <a:br/>
            <a:r>
              <a:t>Renforcer sa propre crédibilité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598" y="228600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25400">
            <a:solidFill>
              <a:srgbClr val="00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598" y="2286000"/>
            <a:ext cx="3474720" cy="54864"/>
          </a:xfrm>
          <a:prstGeom prst="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18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A0"/>
                </a:solidFill>
                <a:latin typeface="Calibri"/>
              </a:defRPr>
            </a:pPr>
            <a:r>
              <a:t>PONT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8" y="29260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Calibri"/>
              </a:defRPr>
            </a:pPr>
            <a:r>
              <a:t>Votre traction rapide est</a:t>
            </a:r>
            <a:br/>
            <a:r>
              <a:t>SA meilleure preuve de valeur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486400"/>
            <a:ext cx="54864" cy="7315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486400"/>
            <a:ext cx="10287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1">
                <a:solidFill>
                  <a:srgbClr val="A296F0"/>
                </a:solidFill>
                <a:latin typeface="Calibri"/>
              </a:defRPr>
            </a:pPr>
            <a:r>
              <a:t>« Ne remplissez pas ça comme un exercice littéraire. Remplissez-le comme un outil de lecture du réel. »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2286000" cy="365760"/>
          </a:xfrm>
          <a:prstGeom prst="roundRect">
            <a:avLst>
              <a:gd name="adj" fmla="val 30000"/>
            </a:avLst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Votre Bible Commerciale v1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254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C5CE7"/>
                </a:solidFill>
                <a:latin typeface="Calibri"/>
              </a:defRPr>
            </a:pPr>
            <a:r>
              <a:t>Carte des</a:t>
            </a:r>
            <a:br/>
            <a:r>
              <a:t>Parties Prenantes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228600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25400">
            <a:solidFill>
              <a:srgbClr val="00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79" y="25603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A0"/>
                </a:solidFill>
                <a:latin typeface="Calibri"/>
              </a:defRPr>
            </a:pPr>
            <a:r>
              <a:t>Matrice</a:t>
            </a:r>
            <a:br/>
            <a:r>
              <a:t>des Enjeux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598" y="228600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25400">
            <a:solidFill>
              <a:srgbClr val="FD9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18" y="25603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D9F44"/>
                </a:solidFill>
                <a:latin typeface="Calibri"/>
              </a:defRPr>
            </a:pPr>
            <a:r>
              <a:t>Leviers</a:t>
            </a:r>
            <a:br/>
            <a:r>
              <a:t>Cognitifs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6C5CE7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4754880"/>
            <a:ext cx="5760720" cy="640080"/>
          </a:xfrm>
          <a:prstGeom prst="roundRect">
            <a:avLst>
              <a:gd name="adj" fmla="val 5000"/>
            </a:avLst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475488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Export PDF  →  bible-commerciale-[startup]-session1.pdf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5760720"/>
            <a:ext cx="54864" cy="7315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5760720"/>
            <a:ext cx="9189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1">
                <a:solidFill>
                  <a:srgbClr val="A296F0"/>
                </a:solidFill>
                <a:latin typeface="Calibri"/>
              </a:defRPr>
            </a:pPr>
            <a:r>
              <a:t>« Vous ne repartez pas avec des conseils. Vous repartez avec une première version de votre Bible Commerciale. »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La suite du programme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737360"/>
            <a:ext cx="914400" cy="411480"/>
          </a:xfrm>
          <a:prstGeom prst="roundRect">
            <a:avLst>
              <a:gd name="adj" fmla="val 30000"/>
            </a:avLst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7373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0C0"/>
                </a:solidFill>
                <a:latin typeface="Calibri"/>
              </a:defRPr>
            </a:pPr>
            <a:r>
              <a:t>Les Ponts d'Enjeux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377440"/>
            <a:ext cx="914400" cy="411480"/>
          </a:xfrm>
          <a:prstGeom prst="roundRect">
            <a:avLst>
              <a:gd name="adj" fmla="val 30000"/>
            </a:avLst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3774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0C0"/>
                </a:solidFill>
                <a:latin typeface="Calibri"/>
              </a:defRPr>
            </a:pPr>
            <a:r>
              <a:t>Les Canaux d'Accès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017520"/>
            <a:ext cx="914400" cy="411480"/>
          </a:xfrm>
          <a:prstGeom prst="roundRect">
            <a:avLst>
              <a:gd name="adj" fmla="val 30000"/>
            </a:avLst>
          </a:prstGeom>
          <a:solidFill>
            <a:srgbClr val="FD9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30175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0C0"/>
                </a:solidFill>
                <a:latin typeface="Calibri"/>
              </a:defRPr>
            </a:pPr>
            <a:r>
              <a:t>Structurer l'Entretien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657600"/>
            <a:ext cx="914400" cy="411480"/>
          </a:xfrm>
          <a:prstGeom prst="roundRect">
            <a:avLst>
              <a:gd name="adj" fmla="val 30000"/>
            </a:avLst>
          </a:prstGeom>
          <a:solidFill>
            <a:srgbClr val="FEC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0F14"/>
                </a:solidFill>
                <a:latin typeface="Calibri"/>
              </a:defRPr>
            </a:pPr>
            <a:r>
              <a:t>S5-6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6576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0C0"/>
                </a:solidFill>
                <a:latin typeface="Calibri"/>
              </a:defRPr>
            </a:pPr>
            <a:r>
              <a:t>Découverte &amp; Maïeutique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297680"/>
            <a:ext cx="914400" cy="411480"/>
          </a:xfrm>
          <a:prstGeom prst="roundRect">
            <a:avLst>
              <a:gd name="adj" fmla="val 3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42976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0C0"/>
                </a:solidFill>
                <a:latin typeface="Calibri"/>
              </a:defRPr>
            </a:pPr>
            <a:r>
              <a:t>Argumentation, Objections &amp; Closing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937760"/>
            <a:ext cx="914400" cy="411480"/>
          </a:xfrm>
          <a:prstGeom prst="roundRect">
            <a:avLst>
              <a:gd name="adj" fmla="val 30000"/>
            </a:avLst>
          </a:prstGeom>
          <a:solidFill>
            <a:srgbClr val="A29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S8-9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49377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0C0"/>
                </a:solidFill>
                <a:latin typeface="Calibri"/>
              </a:defRPr>
            </a:pPr>
            <a:r>
              <a:t>DISC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5577840"/>
            <a:ext cx="91440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0F14"/>
                </a:solidFill>
                <a:latin typeface="Calibri"/>
              </a:defRPr>
            </a:pPr>
            <a:r>
              <a:t>S10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55778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0C0"/>
                </a:solidFill>
                <a:latin typeface="Calibri"/>
              </a:defRPr>
            </a:pPr>
            <a:r>
              <a:t>Synthèse complète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Vos engagements avant la prochaine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C5CE7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21488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0B0C0"/>
                </a:solidFill>
                <a:latin typeface="Calibri"/>
              </a:defRPr>
            </a:pPr>
            <a:r>
              <a:t>parties prenantes à travailler en priorité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2A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32461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0B0C0"/>
                </a:solidFill>
                <a:latin typeface="Calibri"/>
              </a:defRPr>
            </a:pPr>
            <a:r>
              <a:t>hypothèse d'enjeu à vérifier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D9F44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43434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0B0C0"/>
                </a:solidFill>
                <a:latin typeface="Calibri"/>
              </a:defRPr>
            </a:pPr>
            <a:r>
              <a:t>levier cognitif à tester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30352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6B6B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54406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0B0C0"/>
                </a:solidFill>
                <a:latin typeface="Calibri"/>
              </a:defRPr>
            </a:pPr>
            <a:r>
              <a:t>conversation à provoquer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5669280"/>
            <a:ext cx="54864" cy="7315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5669280"/>
            <a:ext cx="9189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 i="1">
                <a:solidFill>
                  <a:srgbClr val="A296F0"/>
                </a:solidFill>
                <a:latin typeface="Calibri"/>
              </a:defRPr>
            </a:pPr>
            <a:r>
              <a:t>« Aujourd'hui, vous avez posé les fondations de la conviction. 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